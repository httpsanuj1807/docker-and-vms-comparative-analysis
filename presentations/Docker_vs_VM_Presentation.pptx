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72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62"/>
  </p:normalViewPr>
  <p:slideViewPr>
    <p:cSldViewPr snapToGrid="0">
      <p:cViewPr varScale="1">
        <p:scale>
          <a:sx n="154" d="100"/>
          <a:sy n="154" d="100"/>
        </p:scale>
        <p:origin x="1408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Docker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Read IOPS</c:v>
                </c:pt>
                <c:pt idx="1">
                  <c:v>Write IOPS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4820</c:v>
                </c:pt>
                <c:pt idx="1">
                  <c:v>2150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B83-CA4B-ABB9-A81285365F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KVM VM</c:v>
                </c:pt>
              </c:strCache>
            </c:strRef>
          </c:tx>
          <c:spPr>
            <a:solidFill>
              <a:srgbClr val="FF3300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Read IOPS</c:v>
                </c:pt>
                <c:pt idx="1">
                  <c:v>Write IOPS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3940</c:v>
                </c:pt>
                <c:pt idx="1">
                  <c:v>1780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B83-CA4B-ABB9-A81285365FC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5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Docker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</c:spPr>
          <c:invertIfNegative val="1"/>
          <c:dLbls>
            <c:numFmt formatCode="0.00&quot;m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Read Lat.
(ms)</c:v>
                </c:pt>
                <c:pt idx="1">
                  <c:v>Write Lat.
(ms)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0.21</c:v>
                </c:pt>
                <c:pt idx="1">
                  <c:v>0.38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0A2-784E-8B82-77629F4BCC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KVM VM</c:v>
                </c:pt>
              </c:strCache>
            </c:strRef>
          </c:tx>
          <c:spPr>
            <a:solidFill>
              <a:srgbClr val="FF3300"/>
            </a:solidFill>
            <a:ln>
              <a:noFill/>
            </a:ln>
          </c:spPr>
          <c:invertIfNegative val="1"/>
          <c:dLbls>
            <c:numFmt formatCode="0.00&quot;m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Read Lat.
(ms)</c:v>
                </c:pt>
                <c:pt idx="1">
                  <c:v>Write Lat.
(ms)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0.34</c:v>
                </c:pt>
                <c:pt idx="1">
                  <c:v>0.51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0A2-784E-8B82-77629F4BCC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65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Times New Roman"/>
              </a:rPr>
              <a:t>COOP-II  |  Evaluation-II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008" y="957720"/>
            <a:ext cx="8815984" cy="2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Times New Roman"/>
              </a:rPr>
              <a:t>Project Presentation of CO-OP Project at Industry  (Module-2)  (22CS421)</a:t>
            </a:r>
          </a:p>
          <a:p>
            <a:pPr algn="ctr"/>
            <a:endParaRPr sz="1300" b="1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300" b="0" dirty="0">
                <a:solidFill>
                  <a:srgbClr val="000000"/>
                </a:solidFill>
                <a:latin typeface="Times New Roman"/>
              </a:rPr>
              <a:t>On</a:t>
            </a:r>
          </a:p>
          <a:p>
            <a:pPr algn="ctr"/>
            <a:endParaRPr sz="1300" b="0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3000" b="1" dirty="0">
                <a:solidFill>
                  <a:srgbClr val="000000"/>
                </a:solidFill>
                <a:latin typeface="Times New Roman"/>
              </a:rPr>
              <a:t>Comparative Analysis of Resource Utilization</a:t>
            </a:r>
          </a:p>
          <a:p>
            <a:pPr algn="ctr"/>
            <a:endParaRPr sz="3000" b="1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500" b="0" dirty="0">
                <a:solidFill>
                  <a:srgbClr val="444444"/>
                </a:solidFill>
                <a:latin typeface="Times New Roman"/>
              </a:rPr>
              <a:t>Docker Containers  vs  Virtual Machines</a:t>
            </a:r>
          </a:p>
          <a:p>
            <a:pPr algn="ctr"/>
            <a:r>
              <a:rPr sz="1500" b="0" dirty="0">
                <a:solidFill>
                  <a:srgbClr val="444444"/>
                </a:solidFill>
                <a:latin typeface="Times New Roman"/>
              </a:rPr>
              <a:t>Under Web Application Workloads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008" y="3157720"/>
            <a:ext cx="2938661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Arham Jain</a:t>
            </a:r>
          </a:p>
          <a:p>
            <a:pPr algn="ctr"/>
            <a:r>
              <a:rPr sz="1200" b="0">
                <a:solidFill>
                  <a:srgbClr val="444444"/>
                </a:solidFill>
                <a:latin typeface="Times New Roman"/>
              </a:rPr>
              <a:t>2210991337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2669" y="3157720"/>
            <a:ext cx="2938661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Ansh Mittal</a:t>
            </a:r>
          </a:p>
          <a:p>
            <a:pPr algn="ctr"/>
            <a:r>
              <a:rPr sz="1200" b="0">
                <a:solidFill>
                  <a:srgbClr val="444444"/>
                </a:solidFill>
                <a:latin typeface="Times New Roman"/>
              </a:rPr>
              <a:t>2210991297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41330" y="3157720"/>
            <a:ext cx="2938661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Anuj Kumar</a:t>
            </a:r>
          </a:p>
          <a:p>
            <a:pPr algn="ctr"/>
            <a:r>
              <a:rPr sz="1200" b="0">
                <a:solidFill>
                  <a:srgbClr val="444444"/>
                </a:solidFill>
                <a:latin typeface="Times New Roman"/>
              </a:rPr>
              <a:t>2210991316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008" y="3857720"/>
            <a:ext cx="8815984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Dept. of Computer Science &amp; Engineering (CUIET)  •  Chitkara University, Punjab</a:t>
            </a:r>
          </a:p>
          <a:p>
            <a:pPr algn="ctr"/>
            <a:endParaRPr sz="1200" b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200" b="0">
                <a:solidFill>
                  <a:srgbClr val="444444"/>
                </a:solidFill>
                <a:latin typeface="Times New Roman"/>
              </a:rPr>
              <a:t>Supervised By:  Dr. Anshu Singla  (anshu.singla@chitkara.edu.in)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008" y="4657720"/>
            <a:ext cx="8815984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endParaRPr/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Department of Computer Science and Engineering,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Chitkara University, Punjab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008" y="6046520"/>
            <a:ext cx="8815984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  <a:latin typeface="Times New Roman"/>
              </a:rPr>
              <a:t>COOP-II Evaluation-II  •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Times New Roman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364008" y="897720"/>
            <a:ext cx="8415984" cy="768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4008" y="1664120"/>
            <a:ext cx="8415984" cy="2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4008" y="897720"/>
            <a:ext cx="280000" cy="768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3300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8" y="1051400"/>
            <a:ext cx="4000" cy="46104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8008" y="897720"/>
            <a:ext cx="2600000" cy="768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A273A"/>
                </a:solidFill>
                <a:latin typeface="Calibri"/>
              </a:rP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8008" y="897720"/>
            <a:ext cx="5491984" cy="768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Why this comparison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4008" y="2432520"/>
            <a:ext cx="8415984" cy="2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4008" y="1666120"/>
            <a:ext cx="280000" cy="768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3300"/>
                </a:solidFill>
                <a:latin typeface="Calibri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008" y="1819800"/>
            <a:ext cx="4000" cy="46104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8008" y="1666120"/>
            <a:ext cx="2600000" cy="768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A273A"/>
                </a:solidFill>
                <a:latin typeface="Calibri"/>
              </a:rPr>
              <a:t>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8008" y="1666120"/>
            <a:ext cx="5491984" cy="768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How Docker &amp; VMs 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4008" y="2434520"/>
            <a:ext cx="8415984" cy="768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4008" y="3200920"/>
            <a:ext cx="8415984" cy="2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4008" y="2434520"/>
            <a:ext cx="280000" cy="768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3300"/>
                </a:solidFill>
                <a:latin typeface="Calibri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008" y="2588200"/>
            <a:ext cx="4000" cy="46104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8008" y="2434520"/>
            <a:ext cx="2600000" cy="768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A273A"/>
                </a:solidFill>
                <a:latin typeface="Calibri"/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8008" y="2434520"/>
            <a:ext cx="5491984" cy="768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Our test setup &amp; approach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4008" y="3969320"/>
            <a:ext cx="8415984" cy="2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4008" y="3202920"/>
            <a:ext cx="280000" cy="768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3300"/>
                </a:solidFill>
                <a:latin typeface="Calibri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008" y="3356600"/>
            <a:ext cx="4000" cy="46104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8008" y="3202920"/>
            <a:ext cx="2600000" cy="768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A273A"/>
                </a:solidFill>
                <a:latin typeface="Calibri"/>
              </a:rPr>
              <a:t>CPU &amp;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8008" y="3202920"/>
            <a:ext cx="5491984" cy="768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Resource efficiency results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4008" y="3971320"/>
            <a:ext cx="8415984" cy="768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4008" y="4737720"/>
            <a:ext cx="8415984" cy="2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4008" y="3971320"/>
            <a:ext cx="280000" cy="768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3300"/>
                </a:solidFill>
                <a:latin typeface="Calibri"/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008" y="4125000"/>
            <a:ext cx="4000" cy="46104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8008" y="3971320"/>
            <a:ext cx="2600000" cy="768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A273A"/>
                </a:solidFill>
                <a:latin typeface="Calibri"/>
              </a:rPr>
              <a:t>Disk, Network &amp; Startup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78008" y="3971320"/>
            <a:ext cx="5491984" cy="768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I/O &amp; speed results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4008" y="5506120"/>
            <a:ext cx="8415984" cy="2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4008" y="4739720"/>
            <a:ext cx="280000" cy="768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3300"/>
                </a:solidFill>
                <a:latin typeface="Calibri"/>
              </a:rPr>
              <a:t>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008" y="4893400"/>
            <a:ext cx="4000" cy="46104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8008" y="4739720"/>
            <a:ext cx="2600000" cy="768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A273A"/>
                </a:solidFill>
                <a:latin typeface="Calibri"/>
              </a:rPr>
              <a:t>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78008" y="4739720"/>
            <a:ext cx="5491984" cy="768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Isolation trade-offs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4008" y="5508120"/>
            <a:ext cx="8415984" cy="768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4008" y="5508120"/>
            <a:ext cx="280000" cy="768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3300"/>
                </a:solidFill>
                <a:latin typeface="Calibri"/>
              </a:rPr>
              <a:t>07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008" y="5661800"/>
            <a:ext cx="4000" cy="46104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8008" y="5508120"/>
            <a:ext cx="2600000" cy="768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A273A"/>
                </a:solidFill>
                <a:latin typeface="Calibri"/>
              </a:rPr>
              <a:t>Conclusion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78008" y="5508120"/>
            <a:ext cx="5491984" cy="768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Key findings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Times New Roman"/>
              </a:rPr>
              <a:t>Introduction  —  Why Does This Matter?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008" y="936710"/>
            <a:ext cx="4200000" cy="27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34008" y="936710"/>
            <a:ext cx="4130000" cy="27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008" y="1305700"/>
            <a:ext cx="42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000000"/>
                </a:solidFill>
                <a:latin typeface="Times New Roman"/>
              </a:rPr>
              <a:t>•  Cloud apps need elastic, efficient &amp; secure infrastructure</a:t>
            </a:r>
          </a:p>
          <a:p>
            <a:pPr algn="l"/>
            <a:r>
              <a:rPr sz="1200" b="0" dirty="0">
                <a:solidFill>
                  <a:srgbClr val="000000"/>
                </a:solidFill>
                <a:latin typeface="Times New Roman"/>
              </a:rPr>
              <a:t>•  Two dominant choices for deploying web apps:</a:t>
            </a:r>
          </a:p>
          <a:p>
            <a:pPr algn="l"/>
            <a:r>
              <a:rPr sz="1200" b="0" dirty="0">
                <a:solidFill>
                  <a:srgbClr val="000000"/>
                </a:solidFill>
                <a:latin typeface="Times New Roman"/>
              </a:rPr>
              <a:t>     →  Hardware VMs  (2+ decades of cloud backbone)</a:t>
            </a:r>
          </a:p>
          <a:p>
            <a:pPr algn="l"/>
            <a:r>
              <a:rPr sz="1200" b="0" dirty="0">
                <a:solidFill>
                  <a:srgbClr val="000000"/>
                </a:solidFill>
                <a:latin typeface="Times New Roman"/>
              </a:rPr>
              <a:t>     →  Docker Containers  (#1 platform as of 2024)</a:t>
            </a:r>
          </a:p>
          <a:p>
            <a:pPr algn="l"/>
            <a:r>
              <a:rPr sz="1200" b="0" dirty="0">
                <a:solidFill>
                  <a:srgbClr val="000000"/>
                </a:solidFill>
                <a:latin typeface="Times New Roman"/>
              </a:rPr>
              <a:t>•  Both have trade-offs — which is better for web workloads?</a:t>
            </a:r>
          </a:p>
          <a:p>
            <a:pPr algn="l"/>
            <a:r>
              <a:rPr sz="1200" b="0" dirty="0">
                <a:solidFill>
                  <a:srgbClr val="000000"/>
                </a:solidFill>
                <a:latin typeface="Times New Roman"/>
              </a:rPr>
              <a:t>•  Prior research used synthetic benchmarks, not realistic HTTP traffic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008" y="2844000"/>
            <a:ext cx="4200000" cy="27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4008" y="2844000"/>
            <a:ext cx="4130000" cy="27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Times New Roman"/>
              </a:rPr>
              <a:t>Our Research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008" y="3220428"/>
            <a:ext cx="4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000000"/>
                </a:solidFill>
                <a:latin typeface="Times New Roman"/>
              </a:rPr>
              <a:t>•  Systematic comparison under realistic web workloads</a:t>
            </a:r>
          </a:p>
          <a:p>
            <a:pPr algn="l"/>
            <a:r>
              <a:rPr sz="1200" b="0" dirty="0">
                <a:solidFill>
                  <a:srgbClr val="000000"/>
                </a:solidFill>
                <a:latin typeface="Times New Roman"/>
              </a:rPr>
              <a:t>•  5 resource dimensions: CPU, Memory, Disk, Network, Startup</a:t>
            </a:r>
          </a:p>
          <a:p>
            <a:pPr algn="l"/>
            <a:r>
              <a:rPr sz="1200" b="0" dirty="0">
                <a:solidFill>
                  <a:srgbClr val="000000"/>
                </a:solidFill>
                <a:latin typeface="Times New Roman"/>
              </a:rPr>
              <a:t>•  Actionable guidance for DevOps &amp; cloud architects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64008" y="922985"/>
            <a:ext cx="4415984" cy="27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4008" y="922985"/>
            <a:ext cx="4345984" cy="27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Times New Roman"/>
              </a:rPr>
              <a:t>Key Numbers at a Glance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64008" y="1339000"/>
            <a:ext cx="2182992" cy="1020000"/>
          </a:xfrm>
          <a:prstGeom prst="rect">
            <a:avLst/>
          </a:prstGeom>
          <a:solidFill>
            <a:srgbClr val="D6EAF8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4008" y="1419000"/>
            <a:ext cx="2182992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 dirty="0">
                <a:solidFill>
                  <a:srgbClr val="0070C0"/>
                </a:solidFill>
                <a:latin typeface="Times New Roman"/>
              </a:rPr>
              <a:t>123×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4008" y="1909000"/>
            <a:ext cx="2182992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 dirty="0">
                <a:solidFill>
                  <a:srgbClr val="444444"/>
                </a:solidFill>
                <a:latin typeface="Times New Roman"/>
              </a:rPr>
              <a:t>Faster startup
(Docker vs VM)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97000" y="1339000"/>
            <a:ext cx="2182992" cy="1020000"/>
          </a:xfrm>
          <a:prstGeom prst="rect">
            <a:avLst/>
          </a:prstGeom>
          <a:solidFill>
            <a:srgbClr val="D5F5E3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97000" y="1419000"/>
            <a:ext cx="2182992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70AD47"/>
                </a:solidFill>
                <a:latin typeface="Times New Roman"/>
              </a:rP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00" y="1909000"/>
            <a:ext cx="2182992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Times New Roman"/>
              </a:rPr>
              <a:t>Less memory
used by Docker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64008" y="2409000"/>
            <a:ext cx="2182992" cy="1020000"/>
          </a:xfrm>
          <a:prstGeom prst="rect">
            <a:avLst/>
          </a:prstGeom>
          <a:solidFill>
            <a:srgbClr val="D6EAF8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64008" y="2489000"/>
            <a:ext cx="2182992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0070C0"/>
                </a:solidFill>
                <a:latin typeface="Times New Roman"/>
              </a:rPr>
              <a:t>23%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4008" y="2979000"/>
            <a:ext cx="2182992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Times New Roman"/>
              </a:rPr>
              <a:t>Higher network
throughput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97000" y="2409000"/>
            <a:ext cx="2182992" cy="1020000"/>
          </a:xfrm>
          <a:prstGeom prst="rect">
            <a:avLst/>
          </a:prstGeom>
          <a:solidFill>
            <a:srgbClr val="FDEDD5"/>
          </a:solidFill>
          <a:ln w="25400">
            <a:solidFill>
              <a:srgbClr val="CC4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97000" y="2489000"/>
            <a:ext cx="2182992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CC4400"/>
                </a:solidFill>
                <a:latin typeface="Times New Roman"/>
              </a:rPr>
              <a:t>74%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7000" y="2979000"/>
            <a:ext cx="2182992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Times New Roman"/>
              </a:rPr>
              <a:t>More app instances
per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Times New Roman"/>
              </a:rPr>
              <a:t>Architecture Overview  —  VM vs Container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4008" y="877720"/>
            <a:ext cx="3495984" cy="24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554008" y="877720"/>
            <a:ext cx="3425984" cy="24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Virtual Machines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4008" y="1137720"/>
            <a:ext cx="3495984" cy="9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Full Guest OS per VM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Hypervisor translates hardware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Strong hardware-enforced isolation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Fixed OS overhead: 256 MB – 1 GB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OS/Libraries flexibility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4008" y="2207720"/>
            <a:ext cx="3495984" cy="24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554008" y="2207720"/>
            <a:ext cx="3425984" cy="24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Docker Containers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4008" y="2467720"/>
            <a:ext cx="3495984" cy="9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70C0"/>
                </a:solidFill>
                <a:latin typeface="Times New Roman"/>
              </a:rPr>
              <a:t>•  Shares host OS kernel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namespaces + cgroups isolation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No guest OS — lightweight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Millisecond startup, portable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Faster to deploy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35B1437F-0063-606B-6EB0-1E6758B67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07" y="877720"/>
            <a:ext cx="5163001" cy="46674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Times New Roman"/>
              </a:rPr>
              <a:t>Key Architectural Differences  (Table I)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4008" y="937720"/>
          <a:ext cx="8815984" cy="538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8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8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755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Property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Docker Container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Virtual Machine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5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Isolation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70C0"/>
                          </a:solidFill>
                          <a:latin typeface="Times New Roman"/>
                        </a:rPr>
                        <a:t>OS (kernel namespaces)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CC0000"/>
                          </a:solidFill>
                          <a:latin typeface="Times New Roman"/>
                        </a:rPr>
                        <a:t>Hardware (hypervisor)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5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Guest 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70C0"/>
                          </a:solidFill>
                          <a:latin typeface="Times New Roman"/>
                        </a:rPr>
                        <a:t>Not required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CC0000"/>
                          </a:solidFill>
                          <a:latin typeface="Times New Roman"/>
                        </a:rPr>
                        <a:t>Required  (256 MB – 1 GB)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75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Startup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70C0"/>
                          </a:solidFill>
                          <a:latin typeface="Times New Roman"/>
                        </a:rPr>
                        <a:t>~300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CC0000"/>
                          </a:solidFill>
                          <a:latin typeface="Times New Roman"/>
                        </a:rPr>
                        <a:t>~38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75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Memory Overhead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70C0"/>
                          </a:solidFill>
                          <a:latin typeface="Times New Roman"/>
                        </a:rPr>
                        <a:t>Low  (app only)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CC0000"/>
                          </a:solidFill>
                          <a:latin typeface="Times New Roman"/>
                        </a:rPr>
                        <a:t>High  (OS + app)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75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Filesystem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70C0"/>
                          </a:solidFill>
                          <a:latin typeface="Times New Roman"/>
                        </a:rPr>
                        <a:t>Layered OverlayFS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CC0000"/>
                          </a:solidFill>
                          <a:latin typeface="Times New Roman"/>
                        </a:rPr>
                        <a:t>Block device 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75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Kernel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70C0"/>
                          </a:solidFill>
                          <a:latin typeface="Times New Roman"/>
                        </a:rPr>
                        <a:t>Shared with host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CC0000"/>
                          </a:solidFill>
                          <a:latin typeface="Times New Roman"/>
                        </a:rPr>
                        <a:t>Dedicated guest kernel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8755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Portability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70C0"/>
                          </a:solidFill>
                          <a:latin typeface="Times New Roman"/>
                        </a:rPr>
                        <a:t>Image-level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CC0000"/>
                          </a:solidFill>
                          <a:latin typeface="Times New Roman"/>
                        </a:rPr>
                        <a:t>Snapshot-level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87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Security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70C0"/>
                          </a:solidFill>
                          <a:latin typeface="Times New Roman"/>
                        </a:rPr>
                        <a:t>Moderate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CC000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Times New Roman"/>
              </a:rPr>
              <a:t>Experimental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008" y="877720"/>
            <a:ext cx="2885328" cy="27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34008" y="877720"/>
            <a:ext cx="2815328" cy="27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Test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008" y="1167720"/>
            <a:ext cx="2885328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Times New Roman"/>
              </a:rPr>
              <a:t>•  Intel Core i9-12900K  (16C/24T)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Times New Roman"/>
              </a:rPr>
              <a:t>•  64 GB DDR5 RAM @ 4800 MT/s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Times New Roman"/>
              </a:rPr>
              <a:t>•  2 TB Samsung 980 Pro NVMe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Times New Roman"/>
              </a:rPr>
              <a:t>•  10 Gbps Intel X550 NIC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Times New Roman"/>
              </a:rPr>
              <a:t>•  Ubuntu 22.04 LTS  (kernel 5.15)</a:t>
            </a:r>
          </a:p>
        </p:txBody>
      </p:sp>
      <p:sp>
        <p:nvSpPr>
          <p:cNvPr id="6" name="Rectangle 5"/>
          <p:cNvSpPr/>
          <p:nvPr/>
        </p:nvSpPr>
        <p:spPr>
          <a:xfrm>
            <a:off x="3129336" y="877720"/>
            <a:ext cx="2885328" cy="27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99336" y="877720"/>
            <a:ext cx="2815328" cy="27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Software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9336" y="1167720"/>
            <a:ext cx="2885328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Times New Roman"/>
              </a:rPr>
              <a:t>•  KVM/QEMU 7.0  +  Docker Engine 24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Times New Roman"/>
              </a:rPr>
              <a:t>•  VM: 4 vCPU, 8 GB RAM, 40 GB disk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Times New Roman"/>
              </a:rPr>
              <a:t>•  Container: --cpus=4 --memory=8g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Times New Roman"/>
              </a:rPr>
              <a:t>•  App: Node.js 18 + Express 4.18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Times New Roman"/>
              </a:rPr>
              <a:t>•  Load Gen: Apache JMeter 5.6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4664" y="877720"/>
            <a:ext cx="2885328" cy="27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64664" y="877720"/>
            <a:ext cx="2815328" cy="27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Test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4664" y="1167720"/>
            <a:ext cx="2885328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Times New Roman"/>
              </a:rPr>
              <a:t>•  60 s warmup  +  300 s measure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Times New Roman"/>
              </a:rPr>
              <a:t>•  Concurrency: 50 / 200 / 500 users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Times New Roman"/>
              </a:rPr>
              <a:t>•  5 runs averaged per config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Times New Roman"/>
              </a:rPr>
              <a:t>•  Startup: 30 trials each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008" y="3127720"/>
            <a:ext cx="8815984" cy="27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4008" y="3127720"/>
            <a:ext cx="8745984" cy="27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Two Workload Types Tested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008" y="3417720"/>
            <a:ext cx="4367992" cy="900000"/>
          </a:xfrm>
          <a:prstGeom prst="rect">
            <a:avLst/>
          </a:prstGeom>
          <a:solidFill>
            <a:srgbClr val="F2F2F2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12000" y="3417720"/>
            <a:ext cx="4367992" cy="900000"/>
          </a:xfrm>
          <a:prstGeom prst="rect">
            <a:avLst/>
          </a:prstGeom>
          <a:solidFill>
            <a:srgbClr val="FFF0F0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4008" y="3507720"/>
            <a:ext cx="4207992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  <a:latin typeface="Times New Roman"/>
              </a:rPr>
              <a:t>Static  (I/O-bound)</a:t>
            </a:r>
          </a:p>
          <a:p>
            <a:pPr algn="l"/>
            <a:endParaRPr sz="1300" b="1">
              <a:solidFill>
                <a:srgbClr val="0070C0"/>
              </a:solidFill>
              <a:latin typeface="Times New Roman"/>
            </a:endParaRPr>
          </a:p>
          <a:p>
            <a:pPr algn="l"/>
            <a:r>
              <a:rPr sz="1200" b="0">
                <a:solidFill>
                  <a:srgbClr val="444444"/>
                </a:solidFill>
                <a:latin typeface="Times New Roman"/>
              </a:rPr>
              <a:t>Serve 50 KB JSON payload — simulates a REST API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2000" y="3507720"/>
            <a:ext cx="4207992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FF3300"/>
                </a:solidFill>
                <a:latin typeface="Times New Roman"/>
              </a:rPr>
              <a:t>Dynamic  (CPU-bound)</a:t>
            </a:r>
          </a:p>
          <a:p>
            <a:pPr algn="l"/>
            <a:endParaRPr sz="1300" b="1" dirty="0">
              <a:solidFill>
                <a:srgbClr val="FF3300"/>
              </a:solidFill>
              <a:latin typeface="Times New Roman"/>
            </a:endParaRPr>
          </a:p>
          <a:p>
            <a:pPr algn="l"/>
            <a:r>
              <a:rPr sz="1200" b="0" dirty="0">
                <a:solidFill>
                  <a:srgbClr val="444444"/>
                </a:solidFill>
                <a:latin typeface="Times New Roman"/>
              </a:rPr>
              <a:t>Fibonacci(n=35) per request — simulates compute-intensive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Times New Roman"/>
              </a:rPr>
              <a:t>Results:  CPU Utilization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4008" y="917720"/>
            <a:ext cx="2535984" cy="50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4008" y="917720"/>
            <a:ext cx="2465984" cy="5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What the
numbers mean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4008" y="1457720"/>
            <a:ext cx="2535984" cy="2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Docker: 8–17% less CPU across all tests</a:t>
            </a:r>
          </a:p>
          <a:p>
            <a:pPr algn="l"/>
            <a:endParaRPr sz="1100" b="0">
              <a:solidFill>
                <a:srgbClr val="000000"/>
              </a:solidFill>
              <a:latin typeface="Times New Roman"/>
            </a:endParaRP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VM hit 93.2% at 500u static — nearly saturated</a:t>
            </a:r>
          </a:p>
          <a:p>
            <a:pPr algn="l"/>
            <a:endParaRPr sz="1100" b="0">
              <a:solidFill>
                <a:srgbClr val="000000"/>
              </a:solidFill>
              <a:latin typeface="Times New Roman"/>
            </a:endParaRPr>
          </a:p>
          <a:p>
            <a:pPr algn="l"/>
            <a:r>
              <a:rPr sz="1100" b="0">
                <a:solidFill>
                  <a:srgbClr val="0070C0"/>
                </a:solidFill>
                <a:latin typeface="Times New Roman"/>
              </a:rPr>
              <a:t>•  Docker stayed at 78.9% — still had headroom</a:t>
            </a:r>
          </a:p>
          <a:p>
            <a:pPr algn="l"/>
            <a:endParaRPr sz="1100" b="0">
              <a:solidFill>
                <a:srgbClr val="0070C0"/>
              </a:solidFill>
              <a:latin typeface="Times New Roman"/>
            </a:endParaRP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VM reached saturation 18% earlier</a:t>
            </a:r>
          </a:p>
          <a:p>
            <a:pPr algn="l"/>
            <a:endParaRPr sz="1100" b="0">
              <a:solidFill>
                <a:srgbClr val="000000"/>
              </a:solidFill>
              <a:latin typeface="Times New Roman"/>
            </a:endParaRPr>
          </a:p>
          <a:p>
            <a:pPr algn="l"/>
            <a:r>
              <a:rPr sz="1100" b="0">
                <a:solidFill>
                  <a:srgbClr val="CC0000"/>
                </a:solidFill>
                <a:latin typeface="Times New Roman"/>
              </a:rPr>
              <a:t>•  Root cause: virtio NIC emulation cycles in VM</a:t>
            </a:r>
          </a:p>
          <a:p>
            <a:pPr algn="l"/>
            <a:endParaRPr sz="1100" b="0">
              <a:solidFill>
                <a:srgbClr val="CC0000"/>
              </a:solidFill>
              <a:latin typeface="Times New Roman"/>
            </a:endParaRP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Docker uses host network stack directly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008" y="4877720"/>
            <a:ext cx="8815984" cy="350000"/>
          </a:xfrm>
          <a:prstGeom prst="rect">
            <a:avLst/>
          </a:prstGeom>
          <a:solidFill>
            <a:srgbClr val="FFF0E8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4008" y="4937720"/>
            <a:ext cx="8655984" cy="2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3300"/>
                </a:solidFill>
                <a:latin typeface="Times New Roman"/>
              </a:rPr>
              <a:t>Key Insight:  Less CPU overhead  =  more capacity for your actual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Calibri"/>
              </a:rPr>
              <a:t>7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A21D591-29DE-9400-AA62-6AD9DA854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07" y="989216"/>
            <a:ext cx="5845847" cy="37682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Times New Roman"/>
              </a:rPr>
              <a:t>Results:  Memory 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008" y="937720"/>
            <a:ext cx="3400000" cy="2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Memory Consumption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944008" y="937720"/>
            <a:ext cx="5035984" cy="24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14008" y="937720"/>
            <a:ext cx="4965984" cy="24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mes New Roman"/>
              </a:rPr>
              <a:t>Server Instance Density on 64 GB RAM 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4008" y="1237720"/>
            <a:ext cx="13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0070C0"/>
                </a:solidFill>
                <a:latin typeface="Times New Roman"/>
              </a:rPr>
              <a:t>Docker Containers
33 instances / 64 GB host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4008" y="1537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74008" y="153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9008" y="1537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79008" y="153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4008" y="1537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4008" y="153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89008" y="1537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89008" y="153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4008" y="1537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94008" y="153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99008" y="1537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99008" y="153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4008" y="1742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74008" y="174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79008" y="1742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79008" y="174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4008" y="1742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4008" y="174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89008" y="1742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89008" y="174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94008" y="1742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94008" y="174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99008" y="1742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99008" y="174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74008" y="1947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74008" y="194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9008" y="1947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79008" y="194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4008" y="1947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4008" y="194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89008" y="1947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89008" y="194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 dirty="0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94008" y="1947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94008" y="194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99008" y="1947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99008" y="194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74008" y="2152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974008" y="215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79008" y="2152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79008" y="215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4008" y="2152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384008" y="215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89008" y="2152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89008" y="215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94008" y="2152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794008" y="215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99008" y="2152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999008" y="215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74008" y="2357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974008" y="235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79008" y="2357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179008" y="235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84008" y="2357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384008" y="235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89008" y="2357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89008" y="235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94008" y="2357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794008" y="235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99008" y="2357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999008" y="235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 dirty="0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974008" y="2562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974008" y="256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79008" y="2562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179008" y="256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84008" y="2562720"/>
            <a:ext cx="180000" cy="18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384008" y="256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92000" y="1237720"/>
            <a:ext cx="130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3300"/>
                </a:solidFill>
                <a:latin typeface="Times New Roman"/>
              </a:rPr>
              <a:t>Virtual Machines
19 instances / 64 GB host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92000" y="1537720"/>
            <a:ext cx="180000" cy="18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92000" y="153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VM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97000" y="1537720"/>
            <a:ext cx="180000" cy="18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697000" y="153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VM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902000" y="1537720"/>
            <a:ext cx="180000" cy="18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902000" y="153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VM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07000" y="1537720"/>
            <a:ext cx="180000" cy="18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107000" y="153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VM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000" y="1742720"/>
            <a:ext cx="180000" cy="18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492000" y="174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VM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97000" y="1742720"/>
            <a:ext cx="180000" cy="18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697000" y="174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VM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02000" y="1742720"/>
            <a:ext cx="180000" cy="18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902000" y="174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VM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107000" y="1742720"/>
            <a:ext cx="180000" cy="18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107000" y="174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VM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492000" y="1947720"/>
            <a:ext cx="180000" cy="18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492000" y="194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VM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697000" y="1947720"/>
            <a:ext cx="180000" cy="18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697000" y="194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VM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902000" y="1947720"/>
            <a:ext cx="180000" cy="18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902000" y="194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VM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07000" y="1947720"/>
            <a:ext cx="180000" cy="18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107000" y="194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VM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92000" y="2152720"/>
            <a:ext cx="180000" cy="18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492000" y="215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VM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697000" y="2152720"/>
            <a:ext cx="180000" cy="18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697000" y="215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VM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902000" y="2152720"/>
            <a:ext cx="180000" cy="18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902000" y="215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VM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107000" y="2152720"/>
            <a:ext cx="180000" cy="18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107000" y="2152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VM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492000" y="2357720"/>
            <a:ext cx="180000" cy="18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492000" y="235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VM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97000" y="2357720"/>
            <a:ext cx="180000" cy="18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697000" y="235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VM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02000" y="2357720"/>
            <a:ext cx="180000" cy="18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902000" y="2357720"/>
            <a:ext cx="180000" cy="18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Times New Roman"/>
              </a:rPr>
              <a:t>VM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944008" y="2927720"/>
            <a:ext cx="5035984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3300"/>
                </a:solidFill>
                <a:latin typeface="Times New Roman"/>
              </a:rPr>
              <a:t>+74% more density with Docker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64008" y="4057720"/>
            <a:ext cx="8815984" cy="26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234008" y="4057720"/>
            <a:ext cx="8745984" cy="2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Why this matters in production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64008" y="4347720"/>
            <a:ext cx="8815984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Times New Roman"/>
              </a:rPr>
              <a:t>Key numbers: Docker baseline 847 MB vs VM 1842 MB (−54%); peak 1934 MB vs VM 3218 MB (−40%).  On 64 GB RAM: 33 Docker containers vs 19 VMs  →  74% more density  →  direct cost savings.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Calibri"/>
              </a:rPr>
              <a:t>8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821676D8-E1B9-D7D7-4D3C-6CD5D45AD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83" y="1277719"/>
            <a:ext cx="3650201" cy="26209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Times New Roman"/>
              </a:rPr>
              <a:t>Results:  Disk I/O &amp; Why Docker Is Faster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008" y="897720"/>
            <a:ext cx="38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Times New Roman"/>
              </a:rPr>
              <a:t>Why Docker Has Lower Latency: Request Path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4008" y="897720"/>
            <a:ext cx="4885984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 dirty="0">
                <a:solidFill>
                  <a:srgbClr val="000000"/>
                </a:solidFill>
                <a:latin typeface="Times New Roman"/>
              </a:rPr>
              <a:t>Disk I/O Performance at 200 Concurrent Users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754215"/>
              </p:ext>
            </p:extLst>
          </p:nvPr>
        </p:nvGraphicFramePr>
        <p:xfrm>
          <a:off x="4094008" y="1578145"/>
          <a:ext cx="2422992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4094008" y="1177719"/>
            <a:ext cx="2459072" cy="3804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 dirty="0">
                <a:solidFill>
                  <a:srgbClr val="444444"/>
                </a:solidFill>
                <a:latin typeface="Times New Roman"/>
              </a:rPr>
              <a:t>IOPS (Ops/sec)
higher is better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835276"/>
              </p:ext>
            </p:extLst>
          </p:nvPr>
        </p:nvGraphicFramePr>
        <p:xfrm>
          <a:off x="6557000" y="1578145"/>
          <a:ext cx="2422992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6557000" y="1177719"/>
            <a:ext cx="245907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 dirty="0">
                <a:solidFill>
                  <a:srgbClr val="444444"/>
                </a:solidFill>
                <a:latin typeface="Times New Roman"/>
              </a:rPr>
              <a:t>I/O Latency (</a:t>
            </a:r>
            <a:r>
              <a:rPr sz="900" b="0" i="1" dirty="0" err="1">
                <a:solidFill>
                  <a:srgbClr val="444444"/>
                </a:solidFill>
                <a:latin typeface="Times New Roman"/>
              </a:rPr>
              <a:t>ms</a:t>
            </a:r>
            <a:r>
              <a:rPr sz="900" b="0" i="1" dirty="0">
                <a:solidFill>
                  <a:srgbClr val="444444"/>
                </a:solidFill>
                <a:latin typeface="Times New Roman"/>
              </a:rPr>
              <a:t>)
lower is better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008" y="4592520"/>
            <a:ext cx="8815984" cy="26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4008" y="4592520"/>
            <a:ext cx="8745984" cy="2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Disk I/O Key Numbers  (200 concurrent users)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08" y="4872520"/>
            <a:ext cx="8695984" cy="5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000000"/>
                </a:solidFill>
                <a:latin typeface="Times New Roman"/>
              </a:rPr>
              <a:t>•  Read IOPS: Docker 4,820 vs VM 3,940  →  +22.3%   |   Read Latency: 0.21 </a:t>
            </a:r>
            <a:r>
              <a:rPr sz="1100" b="0" dirty="0" err="1">
                <a:solidFill>
                  <a:srgbClr val="000000"/>
                </a:solidFill>
                <a:latin typeface="Times New Roman"/>
              </a:rPr>
              <a:t>ms</a:t>
            </a:r>
            <a:r>
              <a:rPr sz="1100" b="0" dirty="0">
                <a:solidFill>
                  <a:srgbClr val="000000"/>
                </a:solidFill>
                <a:latin typeface="Times New Roman"/>
              </a:rPr>
              <a:t> vs 0.34 </a:t>
            </a:r>
            <a:r>
              <a:rPr sz="1100" b="0" dirty="0" err="1">
                <a:solidFill>
                  <a:srgbClr val="000000"/>
                </a:solidFill>
                <a:latin typeface="Times New Roman"/>
              </a:rPr>
              <a:t>ms</a:t>
            </a:r>
            <a:r>
              <a:rPr sz="1100" b="0" dirty="0">
                <a:solidFill>
                  <a:srgbClr val="000000"/>
                </a:solidFill>
                <a:latin typeface="Times New Roman"/>
              </a:rPr>
              <a:t>  →  38.2% faster</a:t>
            </a:r>
          </a:p>
          <a:p>
            <a:pPr algn="l"/>
            <a:r>
              <a:rPr sz="1100" b="0" dirty="0">
                <a:solidFill>
                  <a:srgbClr val="000000"/>
                </a:solidFill>
                <a:latin typeface="Times New Roman"/>
              </a:rPr>
              <a:t>•  Write IOPS: Docker 2,150 vs VM 1,780  →  +20.8%   |   Write Latency: 0.38 </a:t>
            </a:r>
            <a:r>
              <a:rPr sz="1100" b="0" dirty="0" err="1">
                <a:solidFill>
                  <a:srgbClr val="000000"/>
                </a:solidFill>
                <a:latin typeface="Times New Roman"/>
              </a:rPr>
              <a:t>ms</a:t>
            </a:r>
            <a:r>
              <a:rPr sz="1100" b="0" dirty="0">
                <a:solidFill>
                  <a:srgbClr val="000000"/>
                </a:solidFill>
                <a:latin typeface="Times New Roman"/>
              </a:rPr>
              <a:t> vs 0.51 </a:t>
            </a:r>
            <a:r>
              <a:rPr sz="1100" b="0" dirty="0" err="1">
                <a:solidFill>
                  <a:srgbClr val="000000"/>
                </a:solidFill>
                <a:latin typeface="Times New Roman"/>
              </a:rPr>
              <a:t>ms</a:t>
            </a:r>
            <a:r>
              <a:rPr sz="1100" b="0" dirty="0">
                <a:solidFill>
                  <a:srgbClr val="000000"/>
                </a:solidFill>
                <a:latin typeface="Times New Roman"/>
              </a:rPr>
              <a:t>  →  25.5% faster</a:t>
            </a:r>
          </a:p>
          <a:p>
            <a:pPr algn="l"/>
            <a:r>
              <a:rPr sz="1100" b="0" dirty="0">
                <a:solidFill>
                  <a:srgbClr val="444444"/>
                </a:solidFill>
                <a:latin typeface="Times New Roman"/>
              </a:rPr>
              <a:t>•  Root cause: VM uses </a:t>
            </a:r>
            <a:r>
              <a:rPr sz="1100" b="0" dirty="0" err="1">
                <a:solidFill>
                  <a:srgbClr val="444444"/>
                </a:solidFill>
                <a:latin typeface="Times New Roman"/>
              </a:rPr>
              <a:t>virtio</a:t>
            </a:r>
            <a:r>
              <a:rPr sz="1100" b="0" dirty="0">
                <a:solidFill>
                  <a:srgbClr val="444444"/>
                </a:solidFill>
                <a:latin typeface="Times New Roman"/>
              </a:rPr>
              <a:t>-blk emulation layer; Docker reads directly from host </a:t>
            </a:r>
            <a:r>
              <a:rPr sz="1100" b="0" dirty="0" err="1">
                <a:solidFill>
                  <a:srgbClr val="444444"/>
                </a:solidFill>
                <a:latin typeface="Times New Roman"/>
              </a:rPr>
              <a:t>NVMe</a:t>
            </a:r>
            <a:endParaRPr sz="1100" b="0" dirty="0">
              <a:solidFill>
                <a:srgbClr val="444444"/>
              </a:solidFill>
              <a:latin typeface="Times New Roman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Calibri"/>
              </a:rPr>
              <a:t>9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241B601-CDEE-5CA8-5935-DF204B88B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492" y="1217720"/>
            <a:ext cx="3711516" cy="305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Times New Roman"/>
              </a:rPr>
              <a:t>Results:  Network Throughput &amp; Latency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008" y="887720"/>
            <a:ext cx="8815984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 dirty="0">
                <a:solidFill>
                  <a:srgbClr val="000000"/>
                </a:solidFill>
                <a:latin typeface="Times New Roman"/>
              </a:rPr>
              <a:t>Network Performance 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4008" y="1167720"/>
            <a:ext cx="3215984" cy="26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34008" y="1167720"/>
            <a:ext cx="3145984" cy="2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 dirty="0">
                <a:solidFill>
                  <a:srgbClr val="FFFFFF"/>
                </a:solidFill>
                <a:latin typeface="Times New Roman"/>
              </a:rPr>
              <a:t>Latency Numbers  (Table IV)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4008" y="1437720"/>
          <a:ext cx="3215984" cy="25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600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Docker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VM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000"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Throughput
@500u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0070C0"/>
                          </a:solidFill>
                          <a:latin typeface="Times New Roman"/>
                        </a:rPr>
                        <a:t>2.84 Gbps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CC0000"/>
                          </a:solidFill>
                          <a:latin typeface="Times New Roman"/>
                        </a:rPr>
                        <a:t>2.31 Gbps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00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Times New Roman"/>
                        </a:rPr>
                        <a:t>Mean Lat
@200u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0070C0"/>
                          </a:solidFill>
                          <a:latin typeface="Times New Roman"/>
                        </a:rPr>
                        <a:t>4.7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CC0000"/>
                          </a:solidFill>
                          <a:latin typeface="Times New Roman"/>
                        </a:rPr>
                        <a:t>6.1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00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Times New Roman"/>
                        </a:rPr>
                        <a:t>P95 Lat
@200u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0070C0"/>
                          </a:solidFill>
                          <a:latin typeface="Times New Roman"/>
                        </a:rPr>
                        <a:t>18.3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CC0000"/>
                          </a:solidFill>
                          <a:latin typeface="Times New Roman"/>
                        </a:rPr>
                        <a:t>29.7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000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Times New Roman"/>
                        </a:rPr>
                        <a:t>P95 Lat
@500u dyn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0070C0"/>
                          </a:solidFill>
                          <a:latin typeface="Times New Roman"/>
                        </a:rPr>
                        <a:t>94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dirty="0">
                          <a:solidFill>
                            <a:srgbClr val="CC0000"/>
                          </a:solidFill>
                          <a:latin typeface="Times New Roman"/>
                        </a:rPr>
                        <a:t>187 </a:t>
                      </a:r>
                      <a:r>
                        <a:rPr sz="900" b="0" i="0" dirty="0" err="1">
                          <a:solidFill>
                            <a:srgbClr val="CC0000"/>
                          </a:solidFill>
                          <a:latin typeface="Times New Roman"/>
                        </a:rPr>
                        <a:t>ms</a:t>
                      </a:r>
                      <a:endParaRPr sz="900" b="0" i="0" dirty="0">
                        <a:solidFill>
                          <a:srgbClr val="CC0000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164008" y="4387720"/>
            <a:ext cx="8815984" cy="380000"/>
          </a:xfrm>
          <a:prstGeom prst="rect">
            <a:avLst/>
          </a:prstGeom>
          <a:solidFill>
            <a:srgbClr val="FFF0E0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4008" y="4437720"/>
            <a:ext cx="8655984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dirty="0">
                <a:solidFill>
                  <a:srgbClr val="CC0000"/>
                </a:solidFill>
                <a:latin typeface="Times New Roman"/>
              </a:rPr>
              <a:t>⚠  P95 latency at 500 users dynamic:  VM = 187 </a:t>
            </a:r>
            <a:r>
              <a:rPr sz="1100" b="1" i="0" dirty="0" err="1">
                <a:solidFill>
                  <a:srgbClr val="CC0000"/>
                </a:solidFill>
                <a:latin typeface="Times New Roman"/>
              </a:rPr>
              <a:t>ms</a:t>
            </a:r>
            <a:r>
              <a:rPr sz="1100" b="1" i="0" dirty="0">
                <a:solidFill>
                  <a:srgbClr val="CC0000"/>
                </a:solidFill>
                <a:latin typeface="Times New Roman"/>
              </a:rPr>
              <a:t>  vs  Docker = 94 </a:t>
            </a:r>
            <a:r>
              <a:rPr sz="1100" b="1" i="0" dirty="0" err="1">
                <a:solidFill>
                  <a:srgbClr val="CC0000"/>
                </a:solidFill>
                <a:latin typeface="Times New Roman"/>
              </a:rPr>
              <a:t>ms</a:t>
            </a:r>
            <a:r>
              <a:rPr sz="1100" b="1" i="0" dirty="0">
                <a:solidFill>
                  <a:srgbClr val="CC0000"/>
                </a:solidFill>
                <a:latin typeface="Times New Roman"/>
              </a:rPr>
              <a:t>  (VM is 99% worse for tail latency — directly affects user experience)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Calibri"/>
              </a:rPr>
              <a:t>10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E6A973-1017-73A1-1D83-CD8A62B58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08" y="1167720"/>
            <a:ext cx="5396090" cy="28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Times New Roman"/>
              </a:rPr>
              <a:t>Results:  Startup Time  —  123× Faster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4008" y="969390"/>
            <a:ext cx="2655984" cy="26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94008" y="969390"/>
            <a:ext cx="2585984" cy="2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 dirty="0">
                <a:solidFill>
                  <a:srgbClr val="FFFFFF"/>
                </a:solidFill>
                <a:latin typeface="Times New Roman"/>
              </a:rPr>
              <a:t>Table V  (30 trials each)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226300"/>
              </p:ext>
            </p:extLst>
          </p:nvPr>
        </p:nvGraphicFramePr>
        <p:xfrm>
          <a:off x="6324008" y="1308684"/>
          <a:ext cx="2655984" cy="2219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5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5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5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935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Docker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KVM VM</a:t>
                      </a:r>
                    </a:p>
                  </a:txBody>
                  <a:tcP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949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Times New Roman"/>
                        </a:rPr>
                        <a:t>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70C0"/>
                          </a:solidFill>
                          <a:latin typeface="Times New Roman"/>
                        </a:rPr>
                        <a:t>312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CC0000"/>
                          </a:solidFill>
                          <a:latin typeface="Times New Roman"/>
                        </a:rPr>
                        <a:t>38.4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949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Times New Roman"/>
                        </a:rPr>
                        <a:t>Median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70C0"/>
                          </a:solidFill>
                          <a:latin typeface="Times New Roman"/>
                        </a:rPr>
                        <a:t>298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CC0000"/>
                          </a:solidFill>
                          <a:latin typeface="Times New Roman"/>
                        </a:rPr>
                        <a:t>36.9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949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Times New Roman"/>
                        </a:rPr>
                        <a:t>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70C0"/>
                          </a:solidFill>
                          <a:latin typeface="Times New Roman"/>
                        </a:rPr>
                        <a:t>241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CC0000"/>
                          </a:solidFill>
                          <a:latin typeface="Times New Roman"/>
                        </a:rPr>
                        <a:t>29.1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949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Times New Roman"/>
                        </a:rPr>
                        <a:t>Max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0070C0"/>
                          </a:solidFill>
                          <a:latin typeface="Times New Roman"/>
                        </a:rPr>
                        <a:t>489 </a:t>
                      </a:r>
                      <a:r>
                        <a:rPr sz="1100" b="0" i="0" dirty="0" err="1">
                          <a:solidFill>
                            <a:srgbClr val="0070C0"/>
                          </a:solidFill>
                          <a:latin typeface="Times New Roman"/>
                        </a:rPr>
                        <a:t>ms</a:t>
                      </a:r>
                      <a:endParaRPr sz="1100" b="0" i="0" dirty="0">
                        <a:solidFill>
                          <a:srgbClr val="0070C0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CC0000"/>
                          </a:solidFill>
                          <a:latin typeface="Times New Roman"/>
                        </a:rPr>
                        <a:t>52.7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951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00000"/>
                          </a:solidFill>
                          <a:latin typeface="Times New Roman"/>
                        </a:rPr>
                        <a:t>Std Dev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70C0"/>
                          </a:solidFill>
                          <a:latin typeface="Times New Roman"/>
                        </a:rPr>
                        <a:t>47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CC0000"/>
                          </a:solidFill>
                          <a:latin typeface="Times New Roman"/>
                        </a:rPr>
                        <a:t>5.8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164008" y="3792670"/>
            <a:ext cx="8815984" cy="26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4008" y="3792670"/>
            <a:ext cx="8745984" cy="2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Real-world impact:  Scale out 10 new instances during a traffic spike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008" y="4082670"/>
            <a:ext cx="8815984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0070C0"/>
                </a:solidFill>
                <a:latin typeface="Times New Roman"/>
              </a:rPr>
              <a:t>Docker:  ready in ~</a:t>
            </a:r>
            <a:r>
              <a:rPr lang="en-US" sz="1400" b="1" dirty="0">
                <a:solidFill>
                  <a:srgbClr val="0070C0"/>
                </a:solidFill>
                <a:latin typeface="Times New Roman"/>
              </a:rPr>
              <a:t>4 </a:t>
            </a:r>
            <a:r>
              <a:rPr lang="en-US" sz="1400" b="1" dirty="0" err="1">
                <a:solidFill>
                  <a:srgbClr val="0070C0"/>
                </a:solidFill>
                <a:latin typeface="Times New Roman"/>
              </a:rPr>
              <a:t>ms</a:t>
            </a:r>
            <a:endParaRPr sz="1400" b="1" dirty="0">
              <a:solidFill>
                <a:srgbClr val="0070C0"/>
              </a:solidFill>
              <a:latin typeface="Times New Roman"/>
            </a:endParaRPr>
          </a:p>
          <a:p>
            <a:pPr algn="l"/>
            <a:r>
              <a:rPr sz="1400" b="1" dirty="0">
                <a:solidFill>
                  <a:srgbClr val="CC0000"/>
                </a:solidFill>
                <a:latin typeface="Times New Roman"/>
              </a:rPr>
              <a:t>KVM VM:  ready in ~</a:t>
            </a:r>
            <a:r>
              <a:rPr lang="en-US" sz="1400" b="1" dirty="0">
                <a:solidFill>
                  <a:srgbClr val="CC0000"/>
                </a:solidFill>
                <a:latin typeface="Times New Roman"/>
              </a:rPr>
              <a:t>60 secs</a:t>
            </a:r>
            <a:endParaRPr sz="1400" b="1" dirty="0">
              <a:solidFill>
                <a:srgbClr val="CC0000"/>
              </a:solidFill>
              <a:latin typeface="Times New Roman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Calibri"/>
              </a:rPr>
              <a:t>11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61F847BB-9C56-9D2E-C797-2BDDD70FF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07" y="962442"/>
            <a:ext cx="5825731" cy="24665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Times New Roman"/>
              </a:rPr>
              <a:t>Security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008" y="892720"/>
            <a:ext cx="4860000" cy="2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Isolation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008" y="1177720"/>
            <a:ext cx="22500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CC0000"/>
                </a:solidFill>
                <a:latin typeface="Times New Roman"/>
              </a:rPr>
              <a:t>Virtual Machine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74008" y="1177720"/>
            <a:ext cx="22500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0070C0"/>
                </a:solidFill>
                <a:latin typeface="Times New Roman"/>
              </a:rPr>
              <a:t>Docker Container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89008" y="1402720"/>
            <a:ext cx="2200000" cy="16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9008" y="1417720"/>
            <a:ext cx="2160000" cy="330000"/>
          </a:xfrm>
          <a:prstGeom prst="rect">
            <a:avLst/>
          </a:prstGeom>
          <a:solidFill>
            <a:srgbClr val="F2F2F2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9008" y="1467304"/>
            <a:ext cx="2120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Times New Roman"/>
              </a:rPr>
              <a:t>Application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09008" y="1747720"/>
            <a:ext cx="2160000" cy="330000"/>
          </a:xfrm>
          <a:prstGeom prst="rect">
            <a:avLst/>
          </a:prstGeom>
          <a:solidFill>
            <a:srgbClr val="9DC3E6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9008" y="1797304"/>
            <a:ext cx="2120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Times New Roman"/>
              </a:rPr>
              <a:t>Guest OS  (separate kernel)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9008" y="2077720"/>
            <a:ext cx="2160000" cy="330000"/>
          </a:xfrm>
          <a:prstGeom prst="rect">
            <a:avLst/>
          </a:prstGeom>
          <a:solidFill>
            <a:srgbClr val="C05020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9008" y="2127304"/>
            <a:ext cx="2120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imes New Roman"/>
              </a:rPr>
              <a:t>Hypervisor  (HW Virtualization)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9008" y="2407720"/>
            <a:ext cx="2160000" cy="330000"/>
          </a:xfrm>
          <a:prstGeom prst="rect">
            <a:avLst/>
          </a:prstGeom>
          <a:solidFill>
            <a:srgbClr val="2E74B5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9008" y="2449609"/>
            <a:ext cx="2120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Host 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9008" y="2737720"/>
            <a:ext cx="2160000" cy="330000"/>
          </a:xfrm>
          <a:prstGeom prst="rect">
            <a:avLst/>
          </a:prstGeom>
          <a:solidFill>
            <a:srgbClr val="1F4E79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9008" y="2779609"/>
            <a:ext cx="2120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Physical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008" y="3075720"/>
            <a:ext cx="22500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1">
                <a:solidFill>
                  <a:srgbClr val="CC0000"/>
                </a:solidFill>
                <a:latin typeface="Times New Roman"/>
              </a:rPr>
              <a:t>[ Hardware Isolation Boundary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94008" y="1747720"/>
            <a:ext cx="200000" cy="33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94008" y="1651110"/>
            <a:ext cx="2000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VS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19008" y="1417720"/>
            <a:ext cx="1077000" cy="330000"/>
          </a:xfrm>
          <a:prstGeom prst="rect">
            <a:avLst/>
          </a:prstGeom>
          <a:solidFill>
            <a:srgbClr val="BDD7EE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39008" y="1467304"/>
            <a:ext cx="1037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E74B5"/>
                </a:solidFill>
                <a:latin typeface="Times New Roman"/>
              </a:rPr>
              <a:t>Container 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02008" y="1417720"/>
            <a:ext cx="1077000" cy="330000"/>
          </a:xfrm>
          <a:prstGeom prst="rect">
            <a:avLst/>
          </a:prstGeom>
          <a:solidFill>
            <a:srgbClr val="BDD7EE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22008" y="1467304"/>
            <a:ext cx="1037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E74B5"/>
                </a:solidFill>
                <a:latin typeface="Times New Roman"/>
              </a:rPr>
              <a:t>Container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19008" y="1747720"/>
            <a:ext cx="2160000" cy="330000"/>
          </a:xfrm>
          <a:prstGeom prst="rect">
            <a:avLst/>
          </a:prstGeom>
          <a:solidFill>
            <a:srgbClr val="2E74B5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39008" y="1797304"/>
            <a:ext cx="2120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imes New Roman"/>
              </a:rPr>
              <a:t>Docker Engine + cgroups/namespaces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19008" y="2077720"/>
            <a:ext cx="2160000" cy="330000"/>
          </a:xfrm>
          <a:prstGeom prst="rect">
            <a:avLst/>
          </a:prstGeom>
          <a:solidFill>
            <a:srgbClr val="FFE0E0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34008" y="2127304"/>
            <a:ext cx="2130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CC0000"/>
                </a:solidFill>
                <a:latin typeface="Times New Roman"/>
              </a:rPr>
              <a:t>Shared Host OS Kernel  ⚠  (risk point)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9008" y="2407720"/>
            <a:ext cx="2160000" cy="330000"/>
          </a:xfrm>
          <a:prstGeom prst="rect">
            <a:avLst/>
          </a:prstGeom>
          <a:solidFill>
            <a:srgbClr val="2E74B5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39008" y="2449609"/>
            <a:ext cx="2120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Host 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19008" y="2737720"/>
            <a:ext cx="2160000" cy="330000"/>
          </a:xfrm>
          <a:prstGeom prst="rect">
            <a:avLst/>
          </a:prstGeom>
          <a:solidFill>
            <a:srgbClr val="1F4E79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839008" y="2779609"/>
            <a:ext cx="2120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Physical Hardware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44008" y="1417720"/>
            <a:ext cx="3835984" cy="1050000"/>
          </a:xfrm>
          <a:prstGeom prst="rect">
            <a:avLst/>
          </a:prstGeom>
          <a:solidFill>
            <a:srgbClr val="FFE8D0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144008" y="1417720"/>
            <a:ext cx="3835984" cy="24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14008" y="1417720"/>
            <a:ext cx="3765984" cy="24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mes New Roman"/>
              </a:rPr>
              <a:t>VM Security  (Strong)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4008" y="1675720"/>
            <a:ext cx="3755984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Times New Roman"/>
              </a:rPr>
              <a:t>•  Hardware-enforced boundary
    (Intel VT-x/AMD-V)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Times New Roman"/>
              </a:rPr>
              <a:t>•  Guest kernel breach ≠ host breach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Times New Roman"/>
              </a:rPr>
              <a:t>•  Foundation of AWS/Azure/GCP
    multi-tenancy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44008" y="2587720"/>
            <a:ext cx="3835984" cy="1050000"/>
          </a:xfrm>
          <a:prstGeom prst="rect">
            <a:avLst/>
          </a:prstGeom>
          <a:solidFill>
            <a:srgbClr val="D0E8FF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144008" y="2587720"/>
            <a:ext cx="3835984" cy="24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14008" y="2587720"/>
            <a:ext cx="3765984" cy="24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Times New Roman"/>
              </a:rPr>
              <a:t>Container Security  (Moderate)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84008" y="2845720"/>
            <a:ext cx="3755984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C0000"/>
                </a:solidFill>
                <a:latin typeface="Times New Roman"/>
              </a:rPr>
              <a:t>•  Shared host kernel — single point of risk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Times New Roman"/>
              </a:rPr>
              <a:t>•  CVE-2019-5736: runc escape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Times New Roman"/>
              </a:rPr>
              <a:t>•  Harden with: non-root, seccomp,
    AppArmor  (+0.8% CPU)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008" y="4060129"/>
            <a:ext cx="8873796" cy="315714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4008" y="4067018"/>
            <a:ext cx="8745984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mes New Roman"/>
              </a:rPr>
              <a:t>Sandboxed Runtimes:  Best of Both Worlds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008" y="4340129"/>
            <a:ext cx="8873796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gVisor:  user-space kernel intercepts syscalls — near-container speed, VM-level isolation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Kata Containers:  microVM per container — only 5–15% overhead vs Docker (vs 15–23% for full KVM)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Times New Roman"/>
              </a:rPr>
              <a:t>Discussion &amp; Practical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464008" y="917720"/>
            <a:ext cx="4515984" cy="25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34008" y="917720"/>
            <a:ext cx="4445984" cy="25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Use Docker When  ✓</a:t>
            </a:r>
          </a:p>
        </p:txBody>
      </p:sp>
      <p:sp>
        <p:nvSpPr>
          <p:cNvPr id="7" name="Rectangle 6"/>
          <p:cNvSpPr/>
          <p:nvPr/>
        </p:nvSpPr>
        <p:spPr>
          <a:xfrm>
            <a:off x="4464008" y="1187720"/>
            <a:ext cx="4515984" cy="1060000"/>
          </a:xfrm>
          <a:prstGeom prst="rect">
            <a:avLst/>
          </a:prstGeom>
          <a:solidFill>
            <a:srgbClr val="E8F4FF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44008" y="1267720"/>
            <a:ext cx="4355984" cy="9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Latency-sensitive microservices &amp; REST APIs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Fast scaling &amp; high instance density needed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CI/CD pipelines, Kubernetes deployments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Stateless web workloads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4008" y="2367720"/>
            <a:ext cx="4515984" cy="25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4008" y="2367720"/>
            <a:ext cx="4445984" cy="25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Use VMs When 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64008" y="2637720"/>
            <a:ext cx="4515984" cy="1060000"/>
          </a:xfrm>
          <a:prstGeom prst="rect">
            <a:avLst/>
          </a:prstGeom>
          <a:solidFill>
            <a:srgbClr val="FFF0F0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008" y="2717720"/>
            <a:ext cx="4355984" cy="9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Multi-tenant cloud with untrusting users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Regulated environments: PCI-DSS, HIPAA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Need custom kernel or full OS isolation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Maximum security is non-negotiable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64008" y="3817720"/>
            <a:ext cx="4515984" cy="25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4008" y="3817720"/>
            <a:ext cx="4445984" cy="25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Hybrid Architecture  (Production Best Practice)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64008" y="4087720"/>
            <a:ext cx="4515984" cy="1060000"/>
          </a:xfrm>
          <a:prstGeom prst="rect">
            <a:avLst/>
          </a:prstGeom>
          <a:solidFill>
            <a:srgbClr val="F0FFF0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008" y="4167720"/>
            <a:ext cx="4355984" cy="9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Kubernetes nodes run as VMs on cloud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Docker containers run inside each VM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VM isolation at node + container density within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 Used by Google GKE, AWS EKS, Azure AKS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Calibri"/>
              </a:rPr>
              <a:t>13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DD2344-B466-68C3-3753-2FFF98313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08" y="917720"/>
            <a:ext cx="4000000" cy="42393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008" y="887720"/>
            <a:ext cx="8815984" cy="2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Times New Roman"/>
              </a:rPr>
              <a:t>Docker outperforms KVM VMs across 5 of 6 dimensions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7996" y="1657720"/>
            <a:ext cx="1460997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/>
              </a:rPr>
              <a:t>Startup
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008" y="3254611"/>
            <a:ext cx="8815984" cy="27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34008" y="3254611"/>
            <a:ext cx="8745984" cy="27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008" y="3544611"/>
            <a:ext cx="8815984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Times New Roman"/>
              </a:rPr>
              <a:t>•  Docker containers consistently outperform KVM VMs across CPU, Memory, Disk I/O, Network, and Startup Time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Times New Roman"/>
              </a:rPr>
              <a:t>•  VMs retain a meaningful advantage in workload isolation — hardware-enforced security at silicon level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Times New Roman"/>
              </a:rPr>
              <a:t>•  For most production web deployments: Hybrid VM+Container architecture captures both benefits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Times New Roman"/>
              </a:rPr>
              <a:t>•  Emerging runtimes (Kata Containers, gVisor) are closing the performance–isolation gap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008" y="4874611"/>
            <a:ext cx="8815984" cy="27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4008" y="4874611"/>
            <a:ext cx="8745984" cy="27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Future 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008" y="5174611"/>
            <a:ext cx="8815984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solidFill>
                  <a:srgbClr val="000000"/>
                </a:solidFill>
                <a:latin typeface="Times New Roman"/>
              </a:rPr>
              <a:t>Serverless platforms (AWS Fargate, Cloud Run)  •  Kubernetes + Istio overhead  •  Firecracker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microVMs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 •  Security hardening cost at scale  •  ARM64 vs x86_64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Calibri"/>
              </a:rPr>
              <a:t>14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D9B2C97-3F46-B7E6-D6F2-734A4BBF9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70" y="1287720"/>
            <a:ext cx="8652821" cy="16943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Times New Roman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008" y="937720"/>
            <a:ext cx="8815984" cy="538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[1]   Docker, Inc., "Docker Hub: Container Image Repository," 2023.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[2]   G.J. Popek &amp; R.P. Goldberg, "Formal requirements for virtualizable third generation architectures," CACM, 1974.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[3]   D. Merkel, "Docker: Lightweight Linux containers for consistent development &amp; deployment," Linux Journal, 2014.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[4]   W. Felter et al., "An updated performance comparison of VMs and Linux containers," IEEE ISPASS, 2015.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[5]   R. Morabito et al., "Hypervisors vs. lightweight virtualization: A performance comparison," IEEE IC2E, 2015.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[6]   M.G. Xavier et al., "Performance evaluation of container-based virtualization for HPC," IEEE PDP, 2013.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[7]   S. Soltesz et al., "Container-based OS virtualization: A scalable alternative to hypervisors," ACM EuroSys, 2007.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[8]   C. Pahl &amp; B. Lee, "Containers and clusters for edge cloud architectures," FiCloud, 2015.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[9]   D. Bernstein, "Containers and cloud: From LXC to Docker to Kubernetes," IEEE Cloud Computing, 2014.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[10]  M.-T. Chung et al., "Using Docker in high performance computing applications," IEEE ICCE, 2016.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[11]  C.C. Spoiala et al., "Performance comparison of a WebRTC server on Docker vs VM," IEEE SACI, 2016.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[12]  J.E. Smith &amp; R. Nair, "The architecture of virtual machines," IEEE Computer, 2005.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[13]  Q. Zhang et al., "A comparative study of containers and VMs in big data environments," IEEE CLOUD, 2018.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77720"/>
            <a:ext cx="9144000" cy="27500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4008" y="1477720"/>
            <a:ext cx="8815984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  <a:latin typeface="Times New Roman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008" y="2577720"/>
            <a:ext cx="8815984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FFCC99"/>
                </a:solidFill>
                <a:latin typeface="Times New Roman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008" y="3727720"/>
            <a:ext cx="8815984" cy="2588800"/>
          </a:xfrm>
          <a:prstGeom prst="rect">
            <a:avLst/>
          </a:prstGeom>
          <a:solidFill>
            <a:srgbClr val="F2F2F2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4008" y="3857720"/>
            <a:ext cx="8415984" cy="243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FF3300"/>
                </a:solidFill>
                <a:latin typeface="Times New Roman"/>
              </a:rPr>
              <a:t>Research Summary</a:t>
            </a:r>
          </a:p>
          <a:p>
            <a:pPr algn="l"/>
            <a:endParaRPr sz="1300" b="1" dirty="0">
              <a:solidFill>
                <a:srgbClr val="FF3300"/>
              </a:solidFill>
              <a:latin typeface="Times New Roman"/>
            </a:endParaRPr>
          </a:p>
          <a:p>
            <a:pPr algn="l"/>
            <a:r>
              <a:rPr sz="1100" b="0" dirty="0">
                <a:solidFill>
                  <a:srgbClr val="000000"/>
                </a:solidFill>
                <a:latin typeface="Times New Roman"/>
              </a:rPr>
              <a:t>Title:      Comparative Analysis of Resource Utilization — Docker vs Virtual Machines</a:t>
            </a:r>
          </a:p>
          <a:p>
            <a:pPr algn="l"/>
            <a:r>
              <a:rPr sz="1100" b="0" dirty="0">
                <a:solidFill>
                  <a:srgbClr val="000000"/>
                </a:solidFill>
                <a:latin typeface="Times New Roman"/>
              </a:rPr>
              <a:t>Method:   Node.js/Express + Apache JMeter  |  Dedicated i9-12900K physical testbed</a:t>
            </a:r>
          </a:p>
          <a:p>
            <a:pPr algn="l"/>
            <a:r>
              <a:rPr sz="1100" b="0" dirty="0">
                <a:solidFill>
                  <a:srgbClr val="000000"/>
                </a:solidFill>
                <a:latin typeface="Times New Roman"/>
              </a:rPr>
              <a:t>Result:     Docker outperforms KVM VMs across all 5 resource dimensions measured</a:t>
            </a:r>
          </a:p>
          <a:p>
            <a:pPr algn="l"/>
            <a:endParaRPr sz="1100" b="0" dirty="0">
              <a:solidFill>
                <a:srgbClr val="000000"/>
              </a:solidFill>
              <a:latin typeface="Times New Roman"/>
            </a:endParaRPr>
          </a:p>
          <a:p>
            <a:pPr algn="l"/>
            <a:r>
              <a:rPr sz="1100" b="0" dirty="0">
                <a:solidFill>
                  <a:srgbClr val="444444"/>
                </a:solidFill>
                <a:latin typeface="Times New Roman"/>
              </a:rPr>
              <a:t>Arham Jain  •  Ansh Mittal  •  Anuj Kumar</a:t>
            </a:r>
          </a:p>
          <a:p>
            <a:pPr algn="l"/>
            <a:r>
              <a:rPr sz="1000" b="0" dirty="0">
                <a:solidFill>
                  <a:srgbClr val="444444"/>
                </a:solidFill>
                <a:latin typeface="Times New Roman"/>
              </a:rPr>
              <a:t>Dept. of CSE (CUIET), Chitkara University, Punjab  |  COOP-II Evaluation-II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4ca0b373-e9b1-4578-8e53-53d6aaa79771}" enabled="1" method="Standard" siteId="{f9465cb1-7889-4d9a-b552-fdd0addf0eb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34723</TotalTime>
  <Words>1885</Words>
  <Application>Microsoft Macintosh PowerPoint</Application>
  <PresentationFormat>On-screen Show (4:3)</PresentationFormat>
  <Paragraphs>349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Ansh Mittal</cp:lastModifiedBy>
  <cp:revision>2300</cp:revision>
  <dcterms:created xsi:type="dcterms:W3CDTF">2010-04-09T07:36:15Z</dcterms:created>
  <dcterms:modified xsi:type="dcterms:W3CDTF">2026-05-18T10:25:19Z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